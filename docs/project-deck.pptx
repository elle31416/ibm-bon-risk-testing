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4526279"/>
            <a:ext cx="310896" cy="1280160"/>
          </a:xfrm>
          <a:prstGeom prst="rect">
            <a:avLst/>
          </a:prstGeom>
          <a:solidFill>
            <a:srgbClr val="69A7FF"/>
          </a:solidFill>
          <a:ln>
            <a:solidFill>
              <a:srgbClr val="69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3886200"/>
            <a:ext cx="310896" cy="1920240"/>
          </a:xfrm>
          <a:prstGeom prst="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3063239"/>
            <a:ext cx="310896" cy="2743200"/>
          </a:xfrm>
          <a:prstGeom prst="rect">
            <a:avLst/>
          </a:prstGeom>
          <a:solidFill>
            <a:srgbClr val="4BE0A0"/>
          </a:solidFill>
          <a:ln>
            <a:solidFill>
              <a:srgbClr val="4B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2423159"/>
            <a:ext cx="310896" cy="3383280"/>
          </a:xfrm>
          <a:prstGeom prst="rect">
            <a:avLst/>
          </a:prstGeom>
          <a:solidFill>
            <a:srgbClr val="FFCA5E"/>
          </a:solidFill>
          <a:ln>
            <a:solidFill>
              <a:srgbClr val="FFC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60" y="1600200"/>
            <a:ext cx="310896" cy="4206240"/>
          </a:xfrm>
          <a:prstGeom prst="rect">
            <a:avLst/>
          </a:prstGeom>
          <a:solidFill>
            <a:srgbClr val="FF6F82"/>
          </a:solidFill>
          <a:ln>
            <a:solidFill>
              <a:srgbClr val="FF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3E8"/>
                </a:solidFill>
                <a:latin typeface="Aptos"/>
              </a:rPr>
              <a:t>IBM BOB 2.0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77724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EFF8FF"/>
                </a:solidFill>
                <a:latin typeface="Aptos"/>
              </a:rPr>
              <a:t>Test what is</a:t>
            </a:r>
            <a:br/>
            <a:r>
              <a:rPr sz="3800" b="1">
                <a:solidFill>
                  <a:srgbClr val="EFF8FF"/>
                </a:solidFill>
                <a:latin typeface="Aptos"/>
              </a:rPr>
              <a:t>most likely to break.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DB1C8"/>
                </a:solidFill>
                <a:latin typeface="Aptos"/>
              </a:rPr>
              <a:t>A risk-driven workflow that combines git churn, complexity, and coverage gaps—then directs AI-assisted testing where it matters most.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069080"/>
            <a:ext cx="1325880" cy="347472"/>
          </a:xfrm>
          <a:prstGeom prst="round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105656"/>
            <a:ext cx="13258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40C18"/>
                </a:solidFill>
                <a:latin typeface="Aptos"/>
              </a:rPr>
              <a:t>CHALK v5.4.1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4069080"/>
            <a:ext cx="1261872" cy="347472"/>
          </a:xfrm>
          <a:prstGeom prst="roundRect">
            <a:avLst/>
          </a:prstGeom>
          <a:solidFill>
            <a:srgbClr val="4BE0A0"/>
          </a:solidFill>
          <a:ln>
            <a:solidFill>
              <a:srgbClr val="4B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105656"/>
            <a:ext cx="1261872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40C18"/>
                </a:solidFill>
                <a:latin typeface="Aptos"/>
              </a:rPr>
              <a:t>MIT LICENSE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4069080"/>
            <a:ext cx="1051560" cy="347472"/>
          </a:xfrm>
          <a:prstGeom prst="roundRect">
            <a:avLst/>
          </a:prstGeom>
          <a:solidFill>
            <a:srgbClr val="69A7FF"/>
          </a:solidFill>
          <a:ln>
            <a:solidFill>
              <a:srgbClr val="69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105656"/>
            <a:ext cx="10515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40C18"/>
                </a:solidFill>
                <a:latin typeface="Aptos"/>
              </a:rPr>
              <a:t>35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75488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F8FF"/>
                </a:solidFill>
                <a:latin typeface="Aptos"/>
              </a:rPr>
              <a:t>Prepared repository • Reproducible metrics •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8076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8"/>
                </a:solidFill>
                <a:latin typeface="Aptos"/>
              </a:rPr>
              <a:t>Risk-Driven Test Improvement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Coverage alone answers the wrong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155680" cy="45262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373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DB1C8"/>
                </a:solidFill>
                <a:latin typeface="Aptos"/>
              </a:rPr>
              <a:t>Traditional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EFF8FF"/>
                </a:solidFill>
                <a:latin typeface="Aptos"/>
              </a:rPr>
              <a:t>“What ran?”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71800"/>
            <a:ext cx="3108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8"/>
                </a:solidFill>
                <a:latin typeface="Aptos"/>
              </a:rPr>
              <a:t>A high percentage can still hide code that changes often, contains many decision paths, or fails at operational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8346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4FD3E8"/>
                </a:solidFill>
                <a:latin typeface="Aptos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1874519" cy="31546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20574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A7FF"/>
                </a:solidFill>
                <a:latin typeface="Aptos"/>
              </a:rPr>
              <a:t>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2578608"/>
            <a:ext cx="1508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FF8FF"/>
                </a:solidFill>
                <a:latin typeface="Aptos"/>
              </a:rPr>
              <a:t>What changes?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85876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8"/>
                </a:solidFill>
                <a:latin typeface="Aptos"/>
              </a:rPr>
              <a:t>git log</a:t>
            </a:r>
            <a:br/>
            <a:r>
              <a:rPr sz="1200" b="0">
                <a:solidFill>
                  <a:srgbClr val="9DB1C8"/>
                </a:solidFill>
                <a:latin typeface="Aptos"/>
              </a:rPr>
              <a:t>--numstat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828800"/>
            <a:ext cx="1874519" cy="31546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0574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A5E"/>
                </a:solidFill>
                <a:latin typeface="Aptos"/>
              </a:rPr>
              <a:t>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2578608"/>
            <a:ext cx="1508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FF8FF"/>
                </a:solidFill>
                <a:latin typeface="Aptos"/>
              </a:rPr>
              <a:t>What branches?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85876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8"/>
                </a:solidFill>
                <a:latin typeface="Aptos"/>
              </a:rPr>
              <a:t>decision</a:t>
            </a:r>
            <a:br/>
            <a:r>
              <a:rPr sz="1200" b="0">
                <a:solidFill>
                  <a:srgbClr val="9DB1C8"/>
                </a:solidFill>
                <a:latin typeface="Aptos"/>
              </a:rPr>
              <a:t>points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828800"/>
            <a:ext cx="1874519" cy="31546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205740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6F82"/>
                </a:solidFill>
                <a:latin typeface="Aptos"/>
              </a:rPr>
              <a:t>COVERAGE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578608"/>
            <a:ext cx="1508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FF8FF"/>
                </a:solidFill>
                <a:latin typeface="Aptos"/>
              </a:rPr>
              <a:t>What is untested?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858768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B1C8"/>
                </a:solidFill>
                <a:latin typeface="Aptos"/>
              </a:rPr>
              <a:t>c8 JSON</a:t>
            </a:r>
            <a:br/>
            <a:r>
              <a:rPr sz="1200" b="0">
                <a:solidFill>
                  <a:srgbClr val="9DB1C8"/>
                </a:solidFill>
                <a:latin typeface="Aptos"/>
              </a:rPr>
              <a:t>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5780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FD3E8"/>
                </a:solidFill>
                <a:latin typeface="Aptos"/>
              </a:rPr>
              <a:t>Our bet: prioritize the intersection—not any one metric.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A deliberately small, credible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38328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81912"/>
            <a:ext cx="29809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UPSTREAM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2"/>
            <a:ext cx="29809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FF8FF"/>
                </a:solidFill>
                <a:latin typeface="Aptos"/>
              </a:rPr>
              <a:t>chalk/chalk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41448"/>
            <a:ext cx="2980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Pinned to v5.4.1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417320"/>
            <a:ext cx="224028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581912"/>
            <a:ext cx="183794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56232"/>
            <a:ext cx="183794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D3E8"/>
                </a:solidFill>
                <a:latin typeface="Aptos"/>
              </a:rPr>
              <a:t>≈35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441448"/>
            <a:ext cx="183794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Fully analyzable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417320"/>
            <a:ext cx="192024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1581912"/>
            <a:ext cx="15179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1856232"/>
            <a:ext cx="1517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BE0A0"/>
                </a:solidFill>
                <a:latin typeface="Aptos"/>
              </a:rPr>
              <a:t>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441448"/>
            <a:ext cx="15179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Submission-safe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417320"/>
            <a:ext cx="288036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1581912"/>
            <a:ext cx="24780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EXISTING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1856232"/>
            <a:ext cx="2478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69A7FF"/>
                </a:solidFill>
                <a:latin typeface="Aptos"/>
              </a:rPr>
              <a:t>32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441448"/>
            <a:ext cx="24780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AVA + c8 + XO + tsd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063240"/>
            <a:ext cx="6858000" cy="260604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3101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F8FF"/>
                </a:solidFill>
                <a:latin typeface="Aptos"/>
              </a:rPr>
              <a:t>Why Chalk?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3730752"/>
            <a:ext cx="62179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FF8FF"/>
                </a:solidFill>
                <a:latin typeface="Aptos"/>
              </a:rPr>
              <a:t>• Real project with meaningful git history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FF8FF"/>
                </a:solidFill>
                <a:latin typeface="Aptos"/>
              </a:rPr>
              <a:t>• Multiple production modules and vendored boundaries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FF8FF"/>
                </a:solidFill>
                <a:latin typeface="Aptos"/>
              </a:rPr>
              <a:t>• Mature tests provide a trustworthy regression net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FF8FF"/>
                </a:solidFill>
                <a:latin typeface="Aptos"/>
              </a:rPr>
              <a:t>• Small enough for Bob to explain—not merely scan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3063240"/>
            <a:ext cx="3886200" cy="260604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33101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FF8FF"/>
                </a:solidFill>
                <a:latin typeface="Aptos"/>
              </a:rPr>
              <a:t>Reproducibility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730752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E0A0"/>
                </a:solidFill>
                <a:latin typeface="Consolas"/>
              </a:rPr>
              <a:t>git checkout v5.4.1</a:t>
            </a:r>
            <a:br/>
            <a:r>
              <a:rPr sz="1500" b="0">
                <a:solidFill>
                  <a:srgbClr val="4BE0A0"/>
                </a:solidFill>
                <a:latin typeface="Consolas"/>
              </a:rPr>
              <a:t>npm install</a:t>
            </a:r>
            <a:br/>
            <a:r>
              <a:rPr sz="1500" b="0">
                <a:solidFill>
                  <a:srgbClr val="4BE0A0"/>
                </a:solidFill>
                <a:latin typeface="Consolas"/>
              </a:rPr>
              <a:t>npm test</a:t>
            </a:r>
            <a:br/>
            <a:r>
              <a:rPr sz="1500" b="0">
                <a:solidFill>
                  <a:srgbClr val="4BE0A0"/>
                </a:solidFill>
                <a:latin typeface="Consolas"/>
              </a:rPr>
              <a:t>npm run coverage:json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Baseline: a genuine improvement runway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8"/>
                </a:solidFill>
                <a:latin typeface="Aptos"/>
              </a:rPr>
              <a:t>The upstream suite is strong. The added risk-analysis tools intentionally begin untested, creating a legitimate target without weakening existing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29184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221992"/>
            <a:ext cx="28895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UPSTREAM STATEMENTS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2889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BE0A0"/>
                </a:solidFill>
                <a:latin typeface="Aptos"/>
              </a:rPr>
              <a:t>99.61%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081528"/>
            <a:ext cx="28895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32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6512" y="2057400"/>
            <a:ext cx="329184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2221992"/>
            <a:ext cx="28895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PREPARED STATEMENTS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96312"/>
            <a:ext cx="2889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4FD3E8"/>
                </a:solidFill>
                <a:latin typeface="Aptos"/>
              </a:rPr>
              <a:t>66.66%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081528"/>
            <a:ext cx="28895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Includes new tooling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8664" y="2057400"/>
            <a:ext cx="3291840" cy="132588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99832" y="2221992"/>
            <a:ext cx="288950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PREPARED BRANCHES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2" y="2496312"/>
            <a:ext cx="28895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CA5E"/>
                </a:solidFill>
                <a:latin typeface="Aptos"/>
              </a:rPr>
              <a:t>71.42%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2" y="3081528"/>
            <a:ext cx="288950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DB1C8"/>
                </a:solidFill>
                <a:latin typeface="Aptos"/>
              </a:rPr>
              <a:t>Before Bob test generation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840480"/>
            <a:ext cx="10661904" cy="141732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9651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F8FF"/>
                </a:solidFill>
                <a:latin typeface="Aptos"/>
              </a:rPr>
              <a:t>Measured—not estimated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142232"/>
            <a:ext cx="7086600" cy="256032"/>
          </a:xfrm>
          <a:prstGeom prst="roundRect">
            <a:avLst/>
          </a:prstGeom>
          <a:solidFill>
            <a:srgbClr val="1A344E"/>
          </a:solidFill>
          <a:ln>
            <a:solidFill>
              <a:srgbClr val="1A3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657600" y="4142232"/>
            <a:ext cx="4727448" cy="256032"/>
          </a:xfrm>
          <a:prstGeom prst="round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4059936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D3E8"/>
                </a:solidFill>
                <a:latin typeface="Aptos"/>
              </a:rPr>
              <a:t>66.66%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8"/>
                </a:solidFill>
                <a:latin typeface="Aptos"/>
              </a:rPr>
              <a:t>Every later increase must come from passing tests and be logged in evidence/coverage-log.md.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One Bob task session, four evidence-rich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542032" cy="41148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9A7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8FF"/>
                </a:solidFill>
                <a:latin typeface="Aptos"/>
              </a:rPr>
              <a:t>ESTABLISH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Verify tools, license, branch, tests, and exact baseline.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3484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9A7FF"/>
                </a:solidFill>
                <a:latin typeface="Consolas"/>
              </a:rPr>
              <a:t>npm run</a:t>
            </a:r>
            <a:br/>
            <a:r>
              <a:rPr sz="1400" b="1">
                <a:solidFill>
                  <a:srgbClr val="69A7FF"/>
                </a:solidFill>
                <a:latin typeface="Consolas"/>
              </a:rPr>
              <a:t>coverage:json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6391" y="32461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1508760"/>
            <a:ext cx="2542032" cy="41148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7373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D3E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8FF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788920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Narrate churn, complexity, coverage gaps, and model weaknesses.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443484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FD3E8"/>
                </a:solidFill>
                <a:latin typeface="Consolas"/>
              </a:rPr>
              <a:t>git log</a:t>
            </a:r>
            <a:br/>
            <a:r>
              <a:rPr sz="1400" b="1">
                <a:solidFill>
                  <a:srgbClr val="4FD3E8"/>
                </a:solidFill>
                <a:latin typeface="Consolas"/>
              </a:rPr>
              <a:t>--numstat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32461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1508760"/>
            <a:ext cx="2542032" cy="41148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7373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BE0A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8FF"/>
                </a:solidFill>
                <a:latin typeface="Aptos"/>
              </a:rP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788920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Add focused AVA tests in coherent, measurable batches.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443484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BE0A0"/>
                </a:solidFill>
                <a:latin typeface="Consolas"/>
              </a:rPr>
              <a:t>AVA tests</a:t>
            </a:r>
            <a:br/>
            <a:r>
              <a:rPr sz="1400" b="1">
                <a:solidFill>
                  <a:srgbClr val="4BE0A0"/>
                </a:solidFill>
                <a:latin typeface="Consolas"/>
              </a:rPr>
              <a:t>by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32461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3416" y="1508760"/>
            <a:ext cx="2542032" cy="41148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6296" y="17373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CA5E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FF8FF"/>
                </a:solidFill>
                <a:latin typeface="Aptos"/>
              </a:rPr>
              <a:t>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2788920"/>
            <a:ext cx="2057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Rerun regression, refresh dashboard, summarize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4434840"/>
            <a:ext cx="1920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CA5E"/>
                </a:solidFill>
                <a:latin typeface="Consolas"/>
              </a:rPr>
              <a:t>npm test</a:t>
            </a:r>
            <a:br/>
            <a:r>
              <a:rPr sz="1400" b="1">
                <a:solidFill>
                  <a:srgbClr val="FFCA5E"/>
                </a:solidFill>
                <a:latin typeface="Consolas"/>
              </a:rPr>
              <a:t>+ dashboard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6419088"/>
            <a:ext cx="3154680" cy="274320"/>
          </a:xfrm>
          <a:prstGeom prst="roundRect">
            <a:avLst/>
          </a:prstGeom>
          <a:solidFill>
            <a:srgbClr val="481B20"/>
          </a:solidFill>
          <a:ln>
            <a:solidFill>
              <a:srgbClr val="FF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6464808"/>
            <a:ext cx="30632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C9CF"/>
                </a:solidFill>
                <a:latin typeface="Aptos"/>
              </a:rPr>
              <a:t>Use authentic Bob captures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Transparent scoring—not “AI magic”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89888"/>
            <a:ext cx="10972800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19072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FF8FF"/>
                </a:solidFill>
                <a:latin typeface="Aptos"/>
              </a:rP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70078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B1C8"/>
                </a:solidFill>
                <a:latin typeface="Aptos"/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682496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69A7FF"/>
                </a:solidFill>
                <a:latin typeface="Aptos"/>
              </a:rPr>
              <a:t>40%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2" y="170078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B1C8"/>
                </a:solidFill>
                <a:latin typeface="Apto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682496"/>
            <a:ext cx="2514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FCA5E"/>
                </a:solidFill>
                <a:latin typeface="Aptos"/>
              </a:rPr>
              <a:t>30%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00784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B1C8"/>
                </a:solidFill>
                <a:latin typeface="Aptos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682496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FF6F82"/>
                </a:solidFill>
                <a:latin typeface="Aptos"/>
              </a:rPr>
              <a:t>30% COVERAGE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34640"/>
            <a:ext cx="6720840" cy="2834640"/>
          </a:xfrm>
          <a:prstGeom prst="roundRect">
            <a:avLst/>
          </a:prstGeom>
          <a:solidFill>
            <a:srgbClr val="0B1E34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07238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7238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07238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7238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8"/>
                </a:solidFill>
                <a:latin typeface="Aptos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56432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56432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tools/risk-lib.js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456432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76.4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456432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6F82"/>
                </a:solidFill>
                <a:latin typeface="Aptos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49624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49624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tools/risk-analyzer.js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3849624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55.3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9624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6F82"/>
                </a:solidFill>
                <a:latin typeface="Aptos"/>
              </a:rPr>
              <a:t>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42816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242816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supports-color/index.js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4242816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46.5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242816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6F82"/>
                </a:solidFill>
                <a:latin typeface="Aptos"/>
              </a:rPr>
              <a:t>45.1%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636008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636008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tools/server.js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4636008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41.6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636008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6F82"/>
                </a:solidFill>
                <a:latin typeface="Aptos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29200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029200"/>
            <a:ext cx="4023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supports-color/browser.js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32120" y="5029200"/>
            <a:ext cx="640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33.8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02920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6F82"/>
                </a:solidFill>
                <a:latin typeface="Aptos"/>
              </a:rPr>
              <a:t>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2834640"/>
            <a:ext cx="4023360" cy="283464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309067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FF8FF"/>
                </a:solidFill>
                <a:latin typeface="Aptos"/>
              </a:rPr>
              <a:t>Bob’s validation targets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5661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FF8FF"/>
                </a:solidFill>
                <a:latin typeface="Aptos"/>
              </a:rPr>
              <a:t>Path normalization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FF8FF"/>
                </a:solidFill>
                <a:latin typeface="Aptos"/>
              </a:rPr>
              <a:t>Binary and renamed files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FF8FF"/>
                </a:solidFill>
                <a:latin typeface="Aptos"/>
              </a:rPr>
              <a:t>Missing/empty coverage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FF8FF"/>
                </a:solidFill>
                <a:latin typeface="Aptos"/>
              </a:rPr>
              <a:t>Stable ties and zero maxima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FF8FF"/>
                </a:solidFill>
                <a:latin typeface="Aptos"/>
              </a:rPr>
              <a:t>Weighted overall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From repository signals to a live decision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193852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9A7FF"/>
                </a:solidFill>
                <a:latin typeface="Aptos"/>
              </a:rPr>
              <a:t>GIT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git log --numstat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889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69A7FF"/>
                </a:solidFill>
                <a:latin typeface="Aptos"/>
              </a:rPr>
              <a:t>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72768"/>
            <a:ext cx="193852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17830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CA5E"/>
                </a:solidFill>
                <a:latin typeface="Aptos"/>
              </a:rPr>
              <a:t>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671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decision estimator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7889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CA5E"/>
                </a:solidFill>
                <a:latin typeface="Aptos"/>
              </a:rPr>
              <a:t>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572768"/>
            <a:ext cx="193852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7830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6F82"/>
                </a:solidFill>
                <a:latin typeface="Aptos"/>
              </a:rPr>
              <a:t>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6712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c8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6F82"/>
                </a:solidFill>
                <a:latin typeface="Aptos"/>
              </a:rPr>
              <a:t>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360" y="3246120"/>
            <a:ext cx="3977639" cy="1143000"/>
          </a:xfrm>
          <a:prstGeom prst="roundRect">
            <a:avLst/>
          </a:prstGeom>
          <a:solidFill>
            <a:srgbClr val="0F394E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35021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FD3E8"/>
                </a:solidFill>
                <a:latin typeface="Aptos"/>
              </a:rPr>
              <a:t>RISK 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904487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FF8FF"/>
                </a:solidFill>
                <a:latin typeface="Consolas"/>
              </a:rPr>
              <a:t>normalize → weight → 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584448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606040"/>
            <a:ext cx="3794760" cy="242316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8" y="28986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FF8FF"/>
                </a:solidFill>
                <a:latin typeface="Aptos"/>
              </a:rPr>
              <a:t>LIVE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8" y="34015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B1C8"/>
                </a:solidFill>
                <a:latin typeface="Aptos"/>
              </a:rPr>
              <a:t>Overall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3675887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4FD3E8"/>
                </a:solidFill>
                <a:latin typeface="Aptos"/>
              </a:rPr>
              <a:t>66.66%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8" y="4297680"/>
            <a:ext cx="2880360" cy="128016"/>
          </a:xfrm>
          <a:prstGeom prst="roundRect">
            <a:avLst/>
          </a:prstGeom>
          <a:solidFill>
            <a:srgbClr val="1E3953"/>
          </a:solidFill>
          <a:ln>
            <a:solidFill>
              <a:srgbClr val="1E3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3568" y="4297680"/>
            <a:ext cx="1920240" cy="128016"/>
          </a:xfrm>
          <a:prstGeom prst="round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4590288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BE0A0"/>
                </a:solidFill>
                <a:latin typeface="Consolas"/>
              </a:rPr>
              <a:t>dashboard/risk-report.json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41324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DB1C8"/>
                </a:solidFill>
                <a:latin typeface="Aptos"/>
              </a:rPr>
              <a:t>The same report powers terminal review, the demo dashboard, and evidence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The proof point: coverage that climbs by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45920"/>
            <a:ext cx="3337560" cy="22402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B1C8"/>
                </a:solidFill>
                <a:latin typeface="Aptos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95728"/>
            <a:ext cx="2743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4FD3E8"/>
                </a:solidFill>
                <a:latin typeface="Aptos"/>
              </a:rPr>
              <a:t>66.66%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Recorded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48716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45920"/>
            <a:ext cx="3337560" cy="22402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920240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B1C8"/>
                </a:solidFill>
                <a:latin typeface="Aptos"/>
              </a:rPr>
              <a:t>BATCH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395728"/>
            <a:ext cx="2743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69A7FF"/>
                </a:solidFill>
                <a:latin typeface="Aptos"/>
              </a:rPr>
              <a:t>[ACTUAL]%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Bob-generated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59" y="2487168"/>
            <a:ext cx="365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FD3E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645920"/>
            <a:ext cx="3337560" cy="224028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920240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B1C8"/>
                </a:solidFill>
                <a:latin typeface="Aptos"/>
              </a:rPr>
              <a:t>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395728"/>
            <a:ext cx="27432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4BE0A0"/>
                </a:solidFill>
                <a:latin typeface="Aptos"/>
              </a:rPr>
              <a:t>[ACTUAL]%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FF8FF"/>
                </a:solidFill>
                <a:latin typeface="Aptos"/>
              </a:rPr>
              <a:t>Full regression passed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251960"/>
            <a:ext cx="10744200" cy="1234440"/>
          </a:xfrm>
          <a:prstGeom prst="roundRect">
            <a:avLst/>
          </a:prstGeom>
          <a:solidFill>
            <a:srgbClr val="401D22"/>
          </a:solidFill>
          <a:ln>
            <a:solidFill>
              <a:srgbClr val="FF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26280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6F82"/>
                </a:solidFill>
                <a:latin typeface="Aptos"/>
              </a:rPr>
              <a:t>No invented “after”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443984"/>
            <a:ext cx="6949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FF8FF"/>
                </a:solidFill>
                <a:latin typeface="Aptos"/>
              </a:rPr>
              <a:t>Final values stay visibly bracketed until Bob runs the tests. That protects submission credibility and makes the live improvement the hero moment.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6419088"/>
            <a:ext cx="3154680" cy="274320"/>
          </a:xfrm>
          <a:prstGeom prst="roundRect">
            <a:avLst/>
          </a:prstGeom>
          <a:solidFill>
            <a:srgbClr val="481B20"/>
          </a:solidFill>
          <a:ln>
            <a:solidFill>
              <a:srgbClr val="FF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6464808"/>
            <a:ext cx="30632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C9CF"/>
                </a:solidFill>
                <a:latin typeface="Aptos"/>
              </a:rPr>
              <a:t>Replace brackets with genuine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A 2:30 demo that tells one clear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A7FF"/>
                </a:solidFill>
                <a:latin typeface="Consolas"/>
              </a:rPr>
              <a:t>0:00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344168"/>
            <a:ext cx="73152" cy="530352"/>
          </a:xfrm>
          <a:prstGeom prst="rect">
            <a:avLst/>
          </a:prstGeom>
          <a:solidFill>
            <a:srgbClr val="69A7FF"/>
          </a:solidFill>
          <a:ln>
            <a:solidFill>
              <a:srgbClr val="69A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THE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417320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Coverage misses change risk.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3055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3E8"/>
                </a:solidFill>
                <a:latin typeface="Consolas"/>
              </a:rPr>
              <a:t>0:20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057400"/>
            <a:ext cx="73152" cy="530352"/>
          </a:xfrm>
          <a:prstGeom prst="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130552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BOB ANALYZES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30552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Show genuine reasoning + top risks.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43784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Consolas"/>
              </a:rPr>
              <a:t>0:55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770632"/>
            <a:ext cx="73152" cy="530352"/>
          </a:xfrm>
          <a:prstGeom prst="rect">
            <a:avLst/>
          </a:prstGeom>
          <a:solidFill>
            <a:srgbClr val="FFCA5E"/>
          </a:solidFill>
          <a:ln>
            <a:solidFill>
              <a:srgbClr val="FFC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843784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43784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Explain weights and ranked list.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57015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E0A0"/>
                </a:solidFill>
                <a:latin typeface="Consolas"/>
              </a:rPr>
              <a:t>1:20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08760" y="3483863"/>
            <a:ext cx="73152" cy="530352"/>
          </a:xfrm>
          <a:prstGeom prst="rect">
            <a:avLst/>
          </a:prstGeom>
          <a:solidFill>
            <a:srgbClr val="4BE0A0"/>
          </a:solidFill>
          <a:ln>
            <a:solidFill>
              <a:srgbClr val="4BE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3557015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557015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Show genuine test generation.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70248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3E8"/>
                </a:solidFill>
                <a:latin typeface="Consolas"/>
              </a:rPr>
              <a:t>1:50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4197096"/>
            <a:ext cx="73152" cy="530352"/>
          </a:xfrm>
          <a:prstGeom prst="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270248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270248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Before → after + dashboard.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83480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FF8FF"/>
                </a:solidFill>
                <a:latin typeface="Consolas"/>
              </a:rPr>
              <a:t>2:20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4910328"/>
            <a:ext cx="73152" cy="530352"/>
          </a:xfrm>
          <a:prstGeom prst="rect">
            <a:avLst/>
          </a:prstGeom>
          <a:solidFill>
            <a:srgbClr val="EFF8FF"/>
          </a:solidFill>
          <a:ln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4983480"/>
            <a:ext cx="1965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F8FF"/>
                </a:solidFill>
                <a:latin typeface="Aptos"/>
              </a:rPr>
              <a:t>CLOSE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983480"/>
            <a:ext cx="7040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8"/>
                </a:solidFill>
                <a:latin typeface="Aptos"/>
              </a:rPr>
              <a:t>Repo, evidence, takeaway.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5468112"/>
            <a:ext cx="2743200" cy="502920"/>
          </a:xfrm>
          <a:prstGeom prst="roundRect">
            <a:avLst/>
          </a:prstGeom>
          <a:solidFill>
            <a:srgbClr val="0F2A4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5614416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FD3E8"/>
                </a:solidFill>
                <a:latin typeface="Aptos"/>
              </a:rPr>
              <a:t>Keep Bob narration visible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FD3E8"/>
                </a:solidFill>
                <a:latin typeface="Aptos"/>
              </a:rPr>
              <a:t>RISK-DRIVEN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EFF8FF"/>
                </a:solidFill>
                <a:latin typeface="Aptos"/>
              </a:rPr>
              <a:t>Prioritize risk. Generate evidence. Ship with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2743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9DB1C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8"/>
                </a:solidFill>
                <a:latin typeface="Aptos"/>
              </a:rPr>
              <a:t>CHALK × IBM BOB 2.0  •  CONCEPT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9DB1C8"/>
                </a:solidFill>
                <a:latin typeface="Aptos"/>
              </a:rPr>
              <a:t>The result is not “more tests.”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47672"/>
            <a:ext cx="7498079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EFF8FF"/>
                </a:solidFill>
                <a:latin typeface="Aptos"/>
              </a:rPr>
              <a:t>It is a defensible answer to:</a:t>
            </a:r>
            <a:br/>
            <a:r>
              <a:rPr sz="3100" b="1">
                <a:solidFill>
                  <a:srgbClr val="EFF8FF"/>
                </a:solidFill>
                <a:latin typeface="Aptos"/>
              </a:rPr>
              <a:t>“What should we test next—and why?”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67328"/>
            <a:ext cx="248716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402336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9A7FF"/>
                </a:solidFill>
                <a:latin typeface="Aptos"/>
              </a:rPr>
              <a:t>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4389120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F8FF"/>
                </a:solidFill>
                <a:latin typeface="Aptos"/>
              </a:rPr>
              <a:t>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3767328"/>
            <a:ext cx="248716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402336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FD3E8"/>
                </a:solidFill>
                <a:latin typeface="Aptos"/>
              </a:rPr>
              <a:t>EXPLAINABLE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4389120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F8FF"/>
                </a:solidFill>
                <a:latin typeface="Aptos"/>
              </a:rPr>
              <a:t>risk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767328"/>
            <a:ext cx="248716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02336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E0A0"/>
                </a:solidFill>
                <a:latin typeface="Aptos"/>
              </a:rPr>
              <a:t>MEASURABLE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389120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F8FF"/>
                </a:solidFill>
                <a:latin typeface="Aptos"/>
              </a:rPr>
              <a:t>coverage lift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42832" y="3767328"/>
            <a:ext cx="2487168" cy="1143000"/>
          </a:xfrm>
          <a:prstGeom prst="roundRect">
            <a:avLst/>
          </a:prstGeom>
          <a:solidFill>
            <a:srgbClr val="0F2A48"/>
          </a:solidFill>
          <a:ln>
            <a:solidFill>
              <a:srgbClr val="274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4023360"/>
            <a:ext cx="21762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CA5E"/>
                </a:solidFill>
                <a:latin typeface="Aptos"/>
              </a:rPr>
              <a:t>REPRODUCIBLE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389120"/>
            <a:ext cx="21762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F8FF"/>
                </a:solidFill>
                <a:latin typeface="Aptos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96128"/>
            <a:ext cx="7955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8"/>
                </a:solidFill>
                <a:latin typeface="Aptos"/>
              </a:rPr>
              <a:t>Repository: public fork pending  •  Evidence: authentic Bob captures pending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5504688"/>
            <a:ext cx="2578608" cy="347472"/>
          </a:xfrm>
          <a:prstGeom prst="roundRect">
            <a:avLst/>
          </a:prstGeom>
          <a:solidFill>
            <a:srgbClr val="4FD3E8"/>
          </a:solidFill>
          <a:ln>
            <a:solidFill>
              <a:srgbClr val="4F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541264"/>
            <a:ext cx="2578608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40C18"/>
                </a:solidFill>
                <a:latin typeface="Aptos"/>
              </a:rPr>
              <a:t>READY FOR THE BOB SESSION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6419088"/>
            <a:ext cx="3154680" cy="274320"/>
          </a:xfrm>
          <a:prstGeom prst="roundRect">
            <a:avLst/>
          </a:prstGeom>
          <a:solidFill>
            <a:srgbClr val="481B20"/>
          </a:solidFill>
          <a:ln>
            <a:solidFill>
              <a:srgbClr val="FF6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6464808"/>
            <a:ext cx="30632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C9CF"/>
                </a:solidFill>
                <a:latin typeface="Aptos"/>
              </a:rPr>
              <a:t>Concept deck • update after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Risk-Driven Test Improvement with IBM Bob 2.0</dc:title>
  <dc:subject>Hackathon project deck</dc:subject>
  <dc:creator>Hackathon Participant</dc:creator>
  <cp:keywords/>
  <dc:description>Concept deck. Replace bracketed values and evidence placeholders with genuine Bob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